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svg"/><Relationship Id="rId5" Type="http://schemas.openxmlformats.org/officeDocument/2006/relationships/image" Target="../media/image10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網路基本概念與跨平台實務操作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04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20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KPI-2 實習驗收報告：核心架構、組態查詢、DNS 診斷與 TCP Port 連通測試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4419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25600" y="4419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報告人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638706" y="4953000"/>
            <a:ext cx="1231088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27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邱婉瑈</a:t>
            </a:r>
            <a:br>
              <a:rPr lang="en-US" sz="27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19500" y="4191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2700" y="4419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229100" y="4419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KPI項目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975100" y="4749800"/>
            <a:ext cx="2095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KPI-2 網路基本概念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(比重 5%)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23000" y="4191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6200" y="4419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832600" y="4419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驗收方式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635953" y="4826000"/>
            <a:ext cx="1650594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實作演示 + 簡報說明 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26500" y="4191000"/>
            <a:ext cx="24765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029700" y="4419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436100" y="4419600"/>
            <a:ext cx="1841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完成目標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29700" y="4826000"/>
            <a:ext cx="2095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掌握 IP/DNS 基礎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跨平台指令操作</a:t>
            </a:r>
            <a:b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Hosts 靜態綁定與 TCP Port 連通測試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一、核心網路架構四大要素 (Network Fundamentals)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5397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圖示：企業網路拓樸與核心要素對映關係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318000" y="1651000"/>
            <a:ext cx="3683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1841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889500" y="1803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IP 位址 (IP Address)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08500" y="2286000"/>
            <a:ext cx="330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概念：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設備在網路上的邏輯數位地址，如同網路世界的「身份證號」。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在OSI模型的網路層（L3）實現主機的精準定位與端到端通訊導引。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128000" y="1651000"/>
            <a:ext cx="3683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18500" y="184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699500" y="18034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子網路遮罩 (Subnet Mask)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18500" y="2286000"/>
            <a:ext cx="330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概念：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界定IP位址中「網路位」與「主機位」的範圍，劃分區域網路。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判斷目標IP是否屬於同一網段，決定數據包是否需要通過網關轉發。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318000" y="4000500"/>
            <a:ext cx="3683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4191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889500" y="41529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03. 預設閘道 (Default Gateway)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08500" y="4635500"/>
            <a:ext cx="330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概念：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區域網路連接外部網路的默認出口路由器，是內外網溝通的「大門」。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當設備要發包往外網時，會被統一轉發給網關進行路由處理。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128000" y="4000500"/>
            <a:ext cx="3683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41910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699500" y="4152900"/>
            <a:ext cx="3111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04. 網域名稱系統 (DNS)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18500" y="4635500"/>
            <a:ext cx="3302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概念：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互聯網的分布式「電話簿」，建立域名與IP地址的映射關係。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將人類易記的域名（如 google.com）解析為機器可讀的IP地址。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二、跨平台網路組態查詢與設定 (Linux vs Windows)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16000" y="21590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2286000" y="2349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Linux 環境 (CLI 指令)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167">
            <a:off x="1016008" y="3422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556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核心查詢指令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查詢IP與網卡資訊：`ip a` 或 `ip addr`；查詢路由與閘道：`ip route`。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6355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組態修改方式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透過編輯網路設定檔案（如 `/etc/netplan/*.yaml` 或 `/etc/sysconfig/network-scripts/`），修改後重啟網路服務或套用設定。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52705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5829" r="5829"/>
          <a:stretch>
            <a:fillRect/>
          </a:stretch>
        </p:blipFill>
        <p:spPr>
          <a:xfrm>
            <a:off x="6477000" y="2159000"/>
            <a:ext cx="1143000" cy="1143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7747000" y="2349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環境 (CLI / GUI)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9167">
            <a:off x="6477008" y="34226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35560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01. 命令列查詢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在CMD或PowerShell中執行 `ipconfig /all`，可一次性獲取IP位址、子網路遮罩、預設閘道、DNS等完整網路組態。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635500"/>
            <a:ext cx="4762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02. 圖形化設定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透過控制台圖形界面，直觀地修改TCP/IPv4設定，輕鬆切換動態獲取（DHCP）與手動設定靜態IP。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三、通用 Port、DNS 診斷與 Hosts 靜態綁定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54" b="254"/>
          <a:stretch>
            <a:fillRect/>
          </a:stretch>
        </p:blipFill>
        <p:spPr>
          <a:xfrm>
            <a:off x="762000" y="1778000"/>
            <a:ext cx="3556000" cy="3048000"/>
          </a:xfrm>
          <a:prstGeom prst="rect">
            <a:avLst/>
          </a:prstGeom>
          <a:noFill/>
          <a:ln w="25400" cap="flat" cmpd="sng">
            <a:solidFill>
              <a:srgbClr val="2DD4BF">
                <a:alpha val="3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016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圖示：Windows 系統下的 Hosts 檔案配置範例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99000" y="1778000"/>
            <a:ext cx="6604000" cy="13335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889500" y="19050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核心服務連接埠對照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889500" y="23495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22 (SSH)：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遠端安全登入與管理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25 (SMTP)：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郵件傳輸服務</a:t>
            </a:r>
          </a:p>
        </p:txBody>
      </p:sp>
      <p:sp>
        <p:nvSpPr>
          <p:cNvPr id="9" name="AutoShape 9"/>
          <p:cNvSpPr/>
          <p:nvPr/>
        </p:nvSpPr>
        <p:spPr>
          <a:xfrm>
            <a:off x="8001000" y="2349500"/>
            <a:ext cx="2984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80/443：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網頁伺服器服務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53 (DNS)：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網域名稱解析服務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699000" y="3302000"/>
            <a:ext cx="6604000" cy="13335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889500" y="34290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02 DNS 解析排查 (nslookup)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889500" y="3873500"/>
            <a:ext cx="622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當域名無法存取時，執行</a:t>
            </a:r>
            <a:r>
              <a:rPr lang="en-US" sz="13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nslookup [網域名稱]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指令測試，確認是否從DNS伺服器正確取得IP，快速定位是網路問題還是域名解析故障。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4826000"/>
            <a:ext cx="6604000" cy="14605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889500" y="4953000"/>
            <a:ext cx="622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03 Hosts 靜態綁定（本機優先解析）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889500" y="5359400"/>
            <a:ext cx="6223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強制指定域名對應的IP位址，常用於網站開發測試或區域網路內部系統存取。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路徑：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→ C:\Windows\System32\drivers\etc\hosts；Linux → /etc/hosts</a:t>
            </a:r>
            <a:br>
              <a:rPr lang="en-US" sz="12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格式：</a:t>
            </a:r>
            <a:r>
              <a:rPr lang="en-US" sz="1200" b="0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127.0.0.1 test.local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（IP + 空格/Tab + 域名）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四、TCP Port 連通測試與網路除錯 Standard Flow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01 跨平台連通測試指令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25500" y="2133600"/>
            <a:ext cx="2603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Linux 確認指令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遠端測試：</a:t>
            </a:r>
            <a:r>
              <a:rPr lang="en-US" sz="1200" b="0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nc -zv [目標IP] [連接埠]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本機監聽：</a:t>
            </a:r>
            <a:r>
              <a:rPr lang="en-US" sz="1200" b="0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ss -tuln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(檢視監聽連接埠)</a:t>
            </a:r>
          </a:p>
        </p:txBody>
      </p:sp>
      <p:sp>
        <p:nvSpPr>
          <p:cNvPr id="7" name="AutoShape 7"/>
          <p:cNvSpPr/>
          <p:nvPr/>
        </p:nvSpPr>
        <p:spPr>
          <a:xfrm>
            <a:off x="3619500" y="2032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2DD4BF">
              <a:alpha val="1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683000" y="2133600"/>
            <a:ext cx="2603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Windows 確認指令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遠端測試：</a:t>
            </a:r>
            <a:r>
              <a:rPr lang="en-US" sz="1200" b="0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Test-NetConnection [目標IP] -Port [連接埠]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本機連線：</a:t>
            </a:r>
            <a:r>
              <a:rPr lang="en-US" sz="1200" b="0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netstat -ano</a:t>
            </a: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(檢視連線與PID)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3683000"/>
            <a:ext cx="558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02 標準排查三步驟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588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4381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4254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1 (L3層)：基礎連線測試 (ping)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確認本機到網關或目標IP的網路層是否暢通，排除實體網路或路由問題。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4953000"/>
            <a:ext cx="5588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51435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70000" y="5016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2 (L7層)：網域名稱解析 (nslookup)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驗證DNS伺服器是否能正常解析域名，避免因域名解析失敗導致的存取問題。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5715000"/>
            <a:ext cx="5588000" cy="698500"/>
          </a:xfrm>
          <a:prstGeom prst="roundRect">
            <a:avLst>
              <a:gd name="adj" fmla="val 0"/>
            </a:avLst>
          </a:prstGeom>
          <a:solidFill>
            <a:srgbClr val="FFFFFF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9000" y="59055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270000" y="5778500"/>
            <a:ext cx="4953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Step 3 (L4層)：服務連接埠檢查 (nc/Test-NetConnection)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確認目標服務的連接埠是否開放且可達，排除防火牆阻擋或服務未啟動的情況。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rcRect l="273" r="273"/>
          <a:stretch>
            <a:fillRect/>
          </a:stretch>
        </p:blipFill>
        <p:spPr>
          <a:xfrm>
            <a:off x="6731000" y="2032000"/>
            <a:ext cx="4826000" cy="2540000"/>
          </a:xfrm>
          <a:prstGeom prst="rect">
            <a:avLst/>
          </a:prstGeom>
          <a:noFill/>
          <a:ln w="25400" cap="flat" cmpd="sng">
            <a:solidFill>
              <a:srgbClr val="2DD4BF">
                <a:alpha val="6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0" name="AutoShape 20"/>
          <p:cNvSpPr/>
          <p:nvPr/>
        </p:nvSpPr>
        <p:spPr>
          <a:xfrm>
            <a:off x="6731000" y="4826000"/>
            <a:ext cx="4826000" cy="1714500"/>
          </a:xfrm>
          <a:prstGeom prst="roundRect">
            <a:avLst>
              <a:gd name="adj" fmla="val 0"/>
            </a:avLst>
          </a:prstGeom>
          <a:solidFill>
            <a:srgbClr val="2DD4BF">
              <a:alpha val="8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858000" y="4953000"/>
            <a:ext cx="4572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圖示說明：標準化網路故障排除流程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圖示涵蓋從資訊收集到問題升級的完整步驟，確保排查過程系統化、高效化，協助技術人員快速定位與解決網路異常。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505</Words>
  <Application>Microsoft Office PowerPoint</Application>
  <PresentationFormat>寬螢幕</PresentationFormat>
  <Paragraphs>69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5</vt:i4>
      </vt:variant>
    </vt:vector>
  </HeadingPairs>
  <TitlesOfParts>
    <vt:vector size="9" baseType="lpstr">
      <vt:lpstr>Noto Sans SC</vt:lpstr>
      <vt:lpstr>Arial</vt:lpstr>
      <vt:lpstr>Office 主题​​</vt:lpstr>
      <vt:lpstr>默认主题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邱婉</cp:lastModifiedBy>
  <cp:revision>2</cp:revision>
  <dcterms:modified xsi:type="dcterms:W3CDTF">2026-07-23T15:31:37Z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{"Label":"1","ContentProducer":"001191110102MACQD9K64010000","ProduceID":"7665745251189706030","ReservedCode1":"","ContentPropagator":"","PropagateID":"","ReservedCode2":""}</vt:lpwstr>
  </property>
</Properties>
</file>